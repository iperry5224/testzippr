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OPRA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280160"/>
            <a:ext cx="2743200" cy="2971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2918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A1A2E"/>
                </a:solidFill>
              </a:defRPr>
            </a:pPr>
            <a:r>
              <a:t>SOPRA User Manual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46464"/>
                </a:solidFill>
              </a:defRPr>
            </a:pPr>
            <a:r>
              <a:t>SAE On-Premise Risk Assessment – Quick Reference for ISSOs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3657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1A2E"/>
                </a:solidFill>
              </a:defRPr>
            </a:pPr>
            <a:r>
              <a:t>What is SOPRA?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3657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</a:defRPr>
            </a:pPr>
            <a:r>
              <a:t>• SOPRA (SAE On-Premise Risk Assessment) is an on-premise security assessment tool for enterprise infrastructure.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</a:defRPr>
            </a:pPr>
            <a:r>
              <a:t>• It focuses on operational controls across 20 categories (e.g., Identity, Network, Endpoint, Physical Security).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</a:defRPr>
            </a:pPr>
            <a:r>
              <a:t>• Uses CSV-based data upload – no cloud connection required for assessments.</a:t>
            </a:r>
          </a:p>
        </p:txBody>
      </p:sp>
      <p:pic>
        <p:nvPicPr>
          <p:cNvPr id="5" name="Picture 4" descr="01_what_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00584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3657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1A2E"/>
                </a:solidFill>
              </a:defRPr>
            </a:pPr>
            <a:r>
              <a:t>Getting Started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3657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</a:defRPr>
            </a:pPr>
            <a:r>
              <a:t>• 1. Open SOPRA and use the sidebar to navigate.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</a:defRPr>
            </a:pPr>
            <a:r>
              <a:t>• 2. Go to Assessment → Download Templates to get CSV templates for each control category.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</a:defRPr>
            </a:pPr>
            <a:r>
              <a:t>• 3. Populate the CSVs with your environment data (or use Demo Data for exploration).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</a:defRPr>
            </a:pPr>
            <a:r>
              <a:t>• 4. Upload completed CSVs in the Assessment tab to run the assessment.</a:t>
            </a:r>
          </a:p>
        </p:txBody>
      </p:sp>
      <p:pic>
        <p:nvPicPr>
          <p:cNvPr id="5" name="Picture 4" descr="02_getting_sta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00584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3657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1A2E"/>
                </a:solidFill>
              </a:defRPr>
            </a:pPr>
            <a:r>
              <a:t>Main Sections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3657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</a:defRPr>
            </a:pPr>
            <a:r>
              <a:t>• Dashboard – Overview of assessment results, risk score, and category status.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</a:defRPr>
            </a:pPr>
            <a:r>
              <a:t>• Assessment – Upload CSVs, run assessments, view control-level results.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</a:defRPr>
            </a:pPr>
            <a:r>
              <a:t>• Reports – Export assessment reports and findings.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</a:defRPr>
            </a:pPr>
            <a:r>
              <a:t>• Vulnerability Management – AI-assisted remediation for identified gaps.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</a:defRPr>
            </a:pPr>
            <a:r>
              <a:t>• SSP Generator – Generate System Security Plan content from assessment data.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</a:defRPr>
            </a:pPr>
            <a:r>
              <a:t>• AI Assistant – Chat for guidance on controls and remediation.</a:t>
            </a:r>
          </a:p>
        </p:txBody>
      </p:sp>
      <p:pic>
        <p:nvPicPr>
          <p:cNvPr id="5" name="Picture 4" descr="03_main_se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00584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3657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1A2E"/>
                </a:solidFill>
              </a:defRPr>
            </a:pPr>
            <a:r>
              <a:t>Assessment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3657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</a:defRPr>
            </a:pPr>
            <a:r>
              <a:t>• Download Templates (Assessment tab) – Get CSV templates with required columns for each category.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</a:defRPr>
            </a:pPr>
            <a:r>
              <a:t>• Fill in your data – Status, evidence, notes per control.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</a:defRPr>
            </a:pPr>
            <a:r>
              <a:t>• Upload CSVs – One or more files; SOPRA aggregates and scores.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</a:defRPr>
            </a:pPr>
            <a:r>
              <a:t>• Review Dashboard – Risk score, category breakdown, and findings.</a:t>
            </a:r>
          </a:p>
        </p:txBody>
      </p:sp>
      <p:pic>
        <p:nvPicPr>
          <p:cNvPr id="5" name="Picture 4" descr="04_assess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00584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3657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1A2E"/>
                </a:solidFill>
              </a:defRPr>
            </a:pPr>
            <a:r>
              <a:t>Dashboard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3657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</a:defRPr>
            </a:pPr>
            <a:r>
              <a:t>• Categories Assessed – Number of control families evaluated.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</a:defRPr>
            </a:pPr>
            <a:r>
              <a:t>• Controls Assessed – Total controls with FIPS 199 level if applicable.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</a:defRPr>
            </a:pPr>
            <a:r>
              <a:t>• Risk Score – Aggregate risk percentage based on findings.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</a:defRPr>
            </a:pPr>
            <a:r>
              <a:t>• Status – Pending or Complete.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</a:defRPr>
            </a:pPr>
            <a:r>
              <a:t>• Click metric tiles to drill into details.</a:t>
            </a:r>
          </a:p>
        </p:txBody>
      </p:sp>
      <p:pic>
        <p:nvPicPr>
          <p:cNvPr id="5" name="Picture 4" descr="05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00584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3657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1A2E"/>
                </a:solidFill>
              </a:defRPr>
            </a:pPr>
            <a:r>
              <a:t>ISSO Toolkit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3657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</a:defRPr>
            </a:pPr>
            <a:r>
              <a:t>• Access via the ISSO Toolkit link in the sidebar.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</a:defRPr>
            </a:pPr>
            <a:r>
              <a:t>• Central hub for POA&amp;M, Risk Acceptance, STIG Import, Evidence, Incidents, Approvals.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</a:defRPr>
            </a:pPr>
            <a:r>
              <a:t>• Supports continuous monitoring workflows and compliance documentation.</a:t>
            </a:r>
          </a:p>
        </p:txBody>
      </p:sp>
      <p:pic>
        <p:nvPicPr>
          <p:cNvPr id="5" name="Picture 4" descr="06_isso_toolk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00584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3657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1A2E"/>
                </a:solidFill>
              </a:defRPr>
            </a:pPr>
            <a:r>
              <a:t>Vulnerability Management &amp; Remediation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3657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</a:defRPr>
            </a:pPr>
            <a:r>
              <a:t>• Vulnerability Management tab – AI-assisted remediation dashboard.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</a:defRPr>
            </a:pPr>
            <a:r>
              <a:t>• Review findings, get suggested fixes, track remediation status.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</a:defRPr>
            </a:pPr>
            <a:r>
              <a:t>• Integration with CISA KEV and security best practices.</a:t>
            </a:r>
          </a:p>
        </p:txBody>
      </p:sp>
      <p:pic>
        <p:nvPicPr>
          <p:cNvPr id="5" name="Picture 4" descr="07_vuln_mgm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00584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3657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1A2E"/>
                </a:solidFill>
              </a:defRPr>
            </a:pPr>
            <a:r>
              <a:t>SSP Generator &amp; Reports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3657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</a:defRPr>
            </a:pPr>
            <a:r>
              <a:t>• Generate SSP sections from your assessment results.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</a:defRPr>
            </a:pPr>
            <a:r>
              <a:t>• Reports tab – Export findings in formats suitable for ATO packages.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</a:defRPr>
            </a:pPr>
            <a:r>
              <a:t>• Link evidence and control status to documentation.</a:t>
            </a:r>
          </a:p>
        </p:txBody>
      </p:sp>
      <p:pic>
        <p:nvPicPr>
          <p:cNvPr id="5" name="Picture 4" descr="08_ssp_rep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00584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3657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1A2E"/>
                </a:solidFill>
              </a:defRPr>
            </a:pPr>
            <a:r>
              <a:t>Tips for ISSOs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3657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</a:defRPr>
            </a:pPr>
            <a:r>
              <a:t>• Use Demo Data first to explore the tool without real data.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</a:defRPr>
            </a:pPr>
            <a:r>
              <a:t>• Start with a few categories (e.g., Identity, Network) before full assessment.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</a:defRPr>
            </a:pPr>
            <a:r>
              <a:t>• ISSO Toolkit centralizes POA&amp;M, risk acceptance, and evidence – use it for ConMon.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</a:defRPr>
            </a:pPr>
            <a:r>
              <a:t>• AI Assistant helps interpret controls and draft remediation language.</a:t>
            </a:r>
          </a:p>
        </p:txBody>
      </p:sp>
      <p:pic>
        <p:nvPicPr>
          <p:cNvPr id="5" name="Picture 4" descr="09_ti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00584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3657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1A2E"/>
                </a:solidFill>
              </a:defRPr>
            </a:pPr>
            <a:r>
              <a:t>Need Help?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3657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</a:defRPr>
            </a:pPr>
            <a:r>
              <a:t>• Contact your system administrator for access and deployment.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</a:defRPr>
            </a:pPr>
            <a:r>
              <a:t>• SOPRA can run locally or on a shared server – check your organization’s setup.</a:t>
            </a:r>
          </a:p>
        </p:txBody>
      </p:sp>
      <p:pic>
        <p:nvPicPr>
          <p:cNvPr id="5" name="Picture 4" descr="10_need_hel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00584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